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347" r:id="rId6"/>
    <p:sldId id="348" r:id="rId7"/>
    <p:sldId id="349" r:id="rId8"/>
    <p:sldId id="350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Vidaloka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9A1660-36C4-4B6C-A53F-4F5F02F3173D}" v="8" dt="2026-04-21T21:34:19.363"/>
  </p1510:revLst>
</p1510:revInfo>
</file>

<file path=ppt/tableStyles.xml><?xml version="1.0" encoding="utf-8"?>
<a:tblStyleLst xmlns:a="http://schemas.openxmlformats.org/drawingml/2006/main" def="{6D7C9E7A-ABBB-4650-9F3C-815C7206FF7D}">
  <a:tblStyle styleId="{6D7C9E7A-ABBB-4650-9F3C-815C7206F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ابراهيم محمد بن باقر الهاشم" userId="35c3a8af-7068-4343-bf81-d11426689ee6" providerId="ADAL" clId="{E8EB9D68-21CA-401A-96C3-8F49E3499229}"/>
    <pc:docChg chg="modSld">
      <pc:chgData name="ابراهيم محمد بن باقر الهاشم" userId="35c3a8af-7068-4343-bf81-d11426689ee6" providerId="ADAL" clId="{E8EB9D68-21CA-401A-96C3-8F49E3499229}" dt="2026-04-21T22:28:32.486" v="27" actId="20577"/>
      <pc:docMkLst>
        <pc:docMk/>
      </pc:docMkLst>
      <pc:sldChg chg="modSp mod">
        <pc:chgData name="ابراهيم محمد بن باقر الهاشم" userId="35c3a8af-7068-4343-bf81-d11426689ee6" providerId="ADAL" clId="{E8EB9D68-21CA-401A-96C3-8F49E3499229}" dt="2026-04-21T21:32:10.308" v="0" actId="2711"/>
        <pc:sldMkLst>
          <pc:docMk/>
          <pc:sldMk cId="0" sldId="256"/>
        </pc:sldMkLst>
        <pc:spChg chg="mod">
          <ac:chgData name="ابراهيم محمد بن باقر الهاشم" userId="35c3a8af-7068-4343-bf81-d11426689ee6" providerId="ADAL" clId="{E8EB9D68-21CA-401A-96C3-8F49E3499229}" dt="2026-04-21T21:32:10.308" v="0" actId="2711"/>
          <ac:spMkLst>
            <pc:docMk/>
            <pc:sldMk cId="0" sldId="256"/>
            <ac:spMk id="3" creationId="{F87E599D-B5CD-D35F-A81E-1647CD9F5ED9}"/>
          </ac:spMkLst>
        </pc:spChg>
      </pc:sldChg>
      <pc:sldChg chg="modSp mod">
        <pc:chgData name="ابراهيم محمد بن باقر الهاشم" userId="35c3a8af-7068-4343-bf81-d11426689ee6" providerId="ADAL" clId="{E8EB9D68-21CA-401A-96C3-8F49E3499229}" dt="2026-04-21T21:36:02.472" v="22" actId="255"/>
        <pc:sldMkLst>
          <pc:docMk/>
          <pc:sldMk cId="0" sldId="257"/>
        </pc:sldMkLst>
        <pc:spChg chg="mod">
          <ac:chgData name="ابراهيم محمد بن باقر الهاشم" userId="35c3a8af-7068-4343-bf81-d11426689ee6" providerId="ADAL" clId="{E8EB9D68-21CA-401A-96C3-8F49E3499229}" dt="2026-04-21T21:36:02.472" v="22" actId="255"/>
          <ac:spMkLst>
            <pc:docMk/>
            <pc:sldMk cId="0" sldId="257"/>
            <ac:spMk id="495" creationId="{00000000-0000-0000-0000-000000000000}"/>
          </ac:spMkLst>
        </pc:spChg>
      </pc:sldChg>
      <pc:sldChg chg="modSp mod">
        <pc:chgData name="ابراهيم محمد بن باقر الهاشم" userId="35c3a8af-7068-4343-bf81-d11426689ee6" providerId="ADAL" clId="{E8EB9D68-21CA-401A-96C3-8F49E3499229}" dt="2026-04-21T22:28:32.486" v="27" actId="20577"/>
        <pc:sldMkLst>
          <pc:docMk/>
          <pc:sldMk cId="0" sldId="258"/>
        </pc:sldMkLst>
        <pc:spChg chg="mod">
          <ac:chgData name="ابراهيم محمد بن باقر الهاشم" userId="35c3a8af-7068-4343-bf81-d11426689ee6" providerId="ADAL" clId="{E8EB9D68-21CA-401A-96C3-8F49E3499229}" dt="2026-04-21T22:28:32.486" v="27" actId="20577"/>
          <ac:spMkLst>
            <pc:docMk/>
            <pc:sldMk cId="0" sldId="258"/>
            <ac:spMk id="26" creationId="{CD8B4932-B92C-A45C-82CF-4D67E49585F9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2:55.276" v="3" actId="2711"/>
          <ac:spMkLst>
            <pc:docMk/>
            <pc:sldMk cId="0" sldId="258"/>
            <ac:spMk id="27" creationId="{26093434-4C75-A1D7-2EF3-D560D40F98CF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3:00.653" v="4" actId="2711"/>
          <ac:spMkLst>
            <pc:docMk/>
            <pc:sldMk cId="0" sldId="258"/>
            <ac:spMk id="28" creationId="{A973DEE9-D116-2C61-88F6-54A99359339B}"/>
          </ac:spMkLst>
        </pc:spChg>
      </pc:sldChg>
      <pc:sldChg chg="modSp mod">
        <pc:chgData name="ابراهيم محمد بن باقر الهاشم" userId="35c3a8af-7068-4343-bf81-d11426689ee6" providerId="ADAL" clId="{E8EB9D68-21CA-401A-96C3-8F49E3499229}" dt="2026-04-21T21:33:29.257" v="8" actId="2711"/>
        <pc:sldMkLst>
          <pc:docMk/>
          <pc:sldMk cId="0" sldId="259"/>
        </pc:sldMkLst>
        <pc:spChg chg="mod">
          <ac:chgData name="ابراهيم محمد بن باقر الهاشم" userId="35c3a8af-7068-4343-bf81-d11426689ee6" providerId="ADAL" clId="{E8EB9D68-21CA-401A-96C3-8F49E3499229}" dt="2026-04-21T21:33:29.257" v="8" actId="2711"/>
          <ac:spMkLst>
            <pc:docMk/>
            <pc:sldMk cId="0" sldId="259"/>
            <ac:spMk id="50" creationId="{FCC417CF-A7DB-6D8C-3390-2002395F708F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3:20.900" v="7" actId="2711"/>
          <ac:spMkLst>
            <pc:docMk/>
            <pc:sldMk cId="0" sldId="259"/>
            <ac:spMk id="518" creationId="{00000000-0000-0000-0000-000000000000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3:09.333" v="5" actId="2711"/>
          <ac:spMkLst>
            <pc:docMk/>
            <pc:sldMk cId="0" sldId="259"/>
            <ac:spMk id="535" creationId="{00000000-0000-0000-0000-000000000000}"/>
          </ac:spMkLst>
        </pc:spChg>
      </pc:sldChg>
      <pc:sldChg chg="modSp mod">
        <pc:chgData name="ابراهيم محمد بن باقر الهاشم" userId="35c3a8af-7068-4343-bf81-d11426689ee6" providerId="ADAL" clId="{E8EB9D68-21CA-401A-96C3-8F49E3499229}" dt="2026-04-21T21:33:58.940" v="11" actId="2711"/>
        <pc:sldMkLst>
          <pc:docMk/>
          <pc:sldMk cId="1731990785" sldId="347"/>
        </pc:sldMkLst>
        <pc:spChg chg="mod">
          <ac:chgData name="ابراهيم محمد بن باقر الهاشم" userId="35c3a8af-7068-4343-bf81-d11426689ee6" providerId="ADAL" clId="{E8EB9D68-21CA-401A-96C3-8F49E3499229}" dt="2026-04-21T21:33:58.940" v="11" actId="2711"/>
          <ac:spMkLst>
            <pc:docMk/>
            <pc:sldMk cId="1731990785" sldId="347"/>
            <ac:spMk id="50" creationId="{F533F677-CEF1-1379-33EF-8A7D0461F55B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3:51.464" v="10" actId="2711"/>
          <ac:spMkLst>
            <pc:docMk/>
            <pc:sldMk cId="1731990785" sldId="347"/>
            <ac:spMk id="518" creationId="{D3F983F5-4107-CD35-C5D1-3AC351D51FA4}"/>
          </ac:spMkLst>
        </pc:spChg>
      </pc:sldChg>
      <pc:sldChg chg="modSp mod">
        <pc:chgData name="ابراهيم محمد بن باقر الهاشم" userId="35c3a8af-7068-4343-bf81-d11426689ee6" providerId="ADAL" clId="{E8EB9D68-21CA-401A-96C3-8F49E3499229}" dt="2026-04-21T21:34:27.071" v="13" actId="2711"/>
        <pc:sldMkLst>
          <pc:docMk/>
          <pc:sldMk cId="2438448582" sldId="348"/>
        </pc:sldMkLst>
        <pc:spChg chg="mod">
          <ac:chgData name="ابراهيم محمد بن باقر الهاشم" userId="35c3a8af-7068-4343-bf81-d11426689ee6" providerId="ADAL" clId="{E8EB9D68-21CA-401A-96C3-8F49E3499229}" dt="2026-04-21T21:34:27.071" v="13" actId="2711"/>
          <ac:spMkLst>
            <pc:docMk/>
            <pc:sldMk cId="2438448582" sldId="348"/>
            <ac:spMk id="50" creationId="{A3C777E4-2EBE-E4E0-B182-505FADE7617C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4:19.363" v="12" actId="2711"/>
          <ac:spMkLst>
            <pc:docMk/>
            <pc:sldMk cId="2438448582" sldId="348"/>
            <ac:spMk id="518" creationId="{CE1B68F7-519F-C95C-8F8C-C32177A8011A}"/>
          </ac:spMkLst>
        </pc:spChg>
      </pc:sldChg>
      <pc:sldChg chg="modSp mod">
        <pc:chgData name="ابراهيم محمد بن باقر الهاشم" userId="35c3a8af-7068-4343-bf81-d11426689ee6" providerId="ADAL" clId="{E8EB9D68-21CA-401A-96C3-8F49E3499229}" dt="2026-04-21T21:37:27.236" v="26" actId="113"/>
        <pc:sldMkLst>
          <pc:docMk/>
          <pc:sldMk cId="2757462693" sldId="349"/>
        </pc:sldMkLst>
        <pc:spChg chg="mod">
          <ac:chgData name="ابراهيم محمد بن باقر الهاشم" userId="35c3a8af-7068-4343-bf81-d11426689ee6" providerId="ADAL" clId="{E8EB9D68-21CA-401A-96C3-8F49E3499229}" dt="2026-04-21T21:35:17.132" v="20" actId="2711"/>
          <ac:spMkLst>
            <pc:docMk/>
            <pc:sldMk cId="2757462693" sldId="349"/>
            <ac:spMk id="2" creationId="{0463BE0E-F19D-77B6-07DD-EFE4C34A224B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5:11.905" v="19" actId="2711"/>
          <ac:spMkLst>
            <pc:docMk/>
            <pc:sldMk cId="2757462693" sldId="349"/>
            <ac:spMk id="3" creationId="{D8A4F43A-55FC-A5C7-F481-71D8069052A1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5:00.241" v="17" actId="2711"/>
          <ac:spMkLst>
            <pc:docMk/>
            <pc:sldMk cId="2757462693" sldId="349"/>
            <ac:spMk id="4" creationId="{8A59602F-A1B0-83D7-5974-457C937CB8DE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7:27.236" v="26" actId="113"/>
          <ac:spMkLst>
            <pc:docMk/>
            <pc:sldMk cId="2757462693" sldId="349"/>
            <ac:spMk id="5" creationId="{0742EB9E-8DEF-C8F7-CE2B-6C3E1980C08E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4:40.006" v="14" actId="2711"/>
          <ac:spMkLst>
            <pc:docMk/>
            <pc:sldMk cId="2757462693" sldId="349"/>
            <ac:spMk id="26" creationId="{6C1B038A-1F8A-0391-A7D4-F4B503C848A7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7:19.929" v="25" actId="255"/>
          <ac:spMkLst>
            <pc:docMk/>
            <pc:sldMk cId="2757462693" sldId="349"/>
            <ac:spMk id="27" creationId="{1D2FF128-7588-7E8A-D6BC-EC3C9DEF7044}"/>
          </ac:spMkLst>
        </pc:spChg>
        <pc:spChg chg="mod">
          <ac:chgData name="ابراهيم محمد بن باقر الهاشم" userId="35c3a8af-7068-4343-bf81-d11426689ee6" providerId="ADAL" clId="{E8EB9D68-21CA-401A-96C3-8F49E3499229}" dt="2026-04-21T21:35:06.122" v="18" actId="2711"/>
          <ac:spMkLst>
            <pc:docMk/>
            <pc:sldMk cId="2757462693" sldId="349"/>
            <ac:spMk id="28" creationId="{FF9458E8-F7B5-6C65-D7A6-B630E37D9D92}"/>
          </ac:spMkLst>
        </pc:spChg>
      </pc:sldChg>
      <pc:sldChg chg="modSp mod">
        <pc:chgData name="ابراهيم محمد بن باقر الهاشم" userId="35c3a8af-7068-4343-bf81-d11426689ee6" providerId="ADAL" clId="{E8EB9D68-21CA-401A-96C3-8F49E3499229}" dt="2026-04-21T21:35:34.414" v="21" actId="2711"/>
        <pc:sldMkLst>
          <pc:docMk/>
          <pc:sldMk cId="3886524559" sldId="350"/>
        </pc:sldMkLst>
        <pc:spChg chg="mod">
          <ac:chgData name="ابراهيم محمد بن باقر الهاشم" userId="35c3a8af-7068-4343-bf81-d11426689ee6" providerId="ADAL" clId="{E8EB9D68-21CA-401A-96C3-8F49E3499229}" dt="2026-04-21T21:35:34.414" v="21" actId="2711"/>
          <ac:spMkLst>
            <pc:docMk/>
            <pc:sldMk cId="3886524559" sldId="350"/>
            <ac:spMk id="6" creationId="{DAC5C299-A6C5-9DF0-6882-C40CA6B0E8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>
          <a:extLst>
            <a:ext uri="{FF2B5EF4-FFF2-40B4-BE49-F238E27FC236}">
              <a16:creationId xmlns:a16="http://schemas.microsoft.com/office/drawing/2014/main" id="{63C78F47-F560-9871-F1DF-1BCCD1ABE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>
            <a:extLst>
              <a:ext uri="{FF2B5EF4-FFF2-40B4-BE49-F238E27FC236}">
                <a16:creationId xmlns:a16="http://schemas.microsoft.com/office/drawing/2014/main" id="{D4117A10-CF5E-21E5-B2E9-C6B662DFF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>
            <a:extLst>
              <a:ext uri="{FF2B5EF4-FFF2-40B4-BE49-F238E27FC236}">
                <a16:creationId xmlns:a16="http://schemas.microsoft.com/office/drawing/2014/main" id="{65391B23-4166-8E15-6E30-B6976279F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8308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>
          <a:extLst>
            <a:ext uri="{FF2B5EF4-FFF2-40B4-BE49-F238E27FC236}">
              <a16:creationId xmlns:a16="http://schemas.microsoft.com/office/drawing/2014/main" id="{B09FCEDD-CF2A-A818-CE5E-0202365C5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>
            <a:extLst>
              <a:ext uri="{FF2B5EF4-FFF2-40B4-BE49-F238E27FC236}">
                <a16:creationId xmlns:a16="http://schemas.microsoft.com/office/drawing/2014/main" id="{0633D428-B604-5148-C4A4-691CE305D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>
            <a:extLst>
              <a:ext uri="{FF2B5EF4-FFF2-40B4-BE49-F238E27FC236}">
                <a16:creationId xmlns:a16="http://schemas.microsoft.com/office/drawing/2014/main" id="{15B84116-0917-05F0-2B77-F5B44B070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9833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4AE04691-8255-9A41-2C66-9083E20B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>
            <a:extLst>
              <a:ext uri="{FF2B5EF4-FFF2-40B4-BE49-F238E27FC236}">
                <a16:creationId xmlns:a16="http://schemas.microsoft.com/office/drawing/2014/main" id="{B1AEA7DE-7C4E-F694-EDDC-C375A1E0D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>
            <a:extLst>
              <a:ext uri="{FF2B5EF4-FFF2-40B4-BE49-F238E27FC236}">
                <a16:creationId xmlns:a16="http://schemas.microsoft.com/office/drawing/2014/main" id="{878AEFA7-0280-9615-D3A7-A34F7315A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935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25F67BCA-646B-ABD1-0AD3-06B8C877D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>
            <a:extLst>
              <a:ext uri="{FF2B5EF4-FFF2-40B4-BE49-F238E27FC236}">
                <a16:creationId xmlns:a16="http://schemas.microsoft.com/office/drawing/2014/main" id="{8C5AA447-1403-47A4-250E-98A2977DB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>
            <a:extLst>
              <a:ext uri="{FF2B5EF4-FFF2-40B4-BE49-F238E27FC236}">
                <a16:creationId xmlns:a16="http://schemas.microsoft.com/office/drawing/2014/main" id="{92E4E4A2-99C0-305D-48DA-7668811CA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4828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0" r:id="rId6"/>
    <p:sldLayoutId id="2147483697" r:id="rId7"/>
    <p:sldLayoutId id="2147483698" r:id="rId8"/>
    <p:sldLayoutId id="2147483699" r:id="rId9"/>
    <p:sldLayoutId id="214748370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alhasheem.ibrahim@gmail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ibra-371" TargetMode="External"/><Relationship Id="rId4" Type="http://schemas.openxmlformats.org/officeDocument/2006/relationships/hyperlink" Target="http://www.linkedin.com/in/ibrahim-alhashim-21ba9a33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52400" y="2119333"/>
            <a:ext cx="8839200" cy="9048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/>
              <a:t>E-commerce Performance Analysis</a:t>
            </a:r>
            <a:endParaRPr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E599D-B5CD-D35F-A81E-1647CD9F5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1748" y="3342006"/>
            <a:ext cx="5360503" cy="441900"/>
          </a:xfrm>
        </p:spPr>
        <p:txBody>
          <a:bodyPr/>
          <a:lstStyle/>
          <a:p>
            <a:r>
              <a:rPr lang="en-US" dirty="0">
                <a:latin typeface="Vidaloka" panose="020B0604020202020204" charset="0"/>
              </a:rPr>
              <a:t>Ibrahim </a:t>
            </a:r>
            <a:r>
              <a:rPr lang="en-US" dirty="0" err="1">
                <a:latin typeface="Vidaloka" panose="020B0604020202020204" charset="0"/>
              </a:rPr>
              <a:t>Alhashim</a:t>
            </a:r>
            <a:r>
              <a:rPr lang="en-US" dirty="0">
                <a:latin typeface="Vidaloka" panose="020B0604020202020204" charset="0"/>
              </a:rPr>
              <a:t>  |  Data Analyst Project  |  2026</a:t>
            </a:r>
          </a:p>
          <a:p>
            <a:r>
              <a:rPr lang="en-US" dirty="0">
                <a:latin typeface="Vidaloka" panose="020B0604020202020204" charset="0"/>
              </a:rPr>
              <a:t>SQL  •  Power BI  •  DAX</a:t>
            </a:r>
            <a:endParaRPr lang="ar-SA" dirty="0">
              <a:latin typeface="Vidaloka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Business Context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25" y="1113899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sz="1400" dirty="0" err="1">
                <a:solidFill>
                  <a:schemeClr val="dk1"/>
                </a:solidFill>
                <a:latin typeface="Vidaloka" panose="020B0604020202020204" charset="0"/>
              </a:rPr>
              <a:t>Olist</a:t>
            </a:r>
            <a:r>
              <a:rPr lang="en-US" sz="1400" dirty="0">
                <a:solidFill>
                  <a:schemeClr val="dk1"/>
                </a:solidFill>
                <a:latin typeface="Vidaloka" panose="020B0604020202020204" charset="0"/>
              </a:rPr>
              <a:t> is one of Brazil's largest e-commerce marketplaces, </a:t>
            </a:r>
          </a:p>
          <a:p>
            <a:pPr marL="0" lvl="0" indent="0">
              <a:buSzPts val="1100"/>
              <a:buNone/>
            </a:pPr>
            <a:r>
              <a:rPr lang="en-US" sz="1400" dirty="0">
                <a:solidFill>
                  <a:schemeClr val="dk1"/>
                </a:solidFill>
                <a:latin typeface="Vidaloka" panose="020B0604020202020204" charset="0"/>
              </a:rPr>
              <a:t>connecting thousands of small sellers with buyers nationwide.</a:t>
            </a:r>
          </a:p>
          <a:p>
            <a:pPr marL="0" lvl="0" indent="0">
              <a:buSzPts val="1100"/>
              <a:buNone/>
            </a:pPr>
            <a:endParaRPr lang="en-US" sz="1400" dirty="0">
              <a:solidFill>
                <a:schemeClr val="dk1"/>
              </a:solidFill>
              <a:latin typeface="Vidaloka" panose="020B0604020202020204" charset="0"/>
            </a:endParaRPr>
          </a:p>
          <a:p>
            <a:pPr marL="0" lvl="0" indent="0">
              <a:buSzPts val="1100"/>
              <a:buNone/>
            </a:pPr>
            <a:r>
              <a:rPr lang="en-US" sz="1400" dirty="0">
                <a:solidFill>
                  <a:schemeClr val="dk1"/>
                </a:solidFill>
                <a:latin typeface="Vidaloka" panose="020B0604020202020204" charset="0"/>
              </a:rPr>
              <a:t>This analysis explores ~193,000 orders processed between </a:t>
            </a:r>
          </a:p>
          <a:p>
            <a:pPr marL="0" lvl="0" indent="0">
              <a:buSzPts val="1100"/>
              <a:buNone/>
            </a:pPr>
            <a:r>
              <a:rPr lang="en-US" sz="1400" dirty="0">
                <a:solidFill>
                  <a:schemeClr val="dk1"/>
                </a:solidFill>
                <a:latin typeface="Vidaloka" panose="020B0604020202020204" charset="0"/>
              </a:rPr>
              <a:t>2016 and 2018 to answer key business questions:</a:t>
            </a:r>
          </a:p>
          <a:p>
            <a:pPr marL="0" lvl="0" indent="0">
              <a:buSzPts val="1100"/>
              <a:buNone/>
            </a:pPr>
            <a:endParaRPr lang="en-US" sz="1400" dirty="0">
              <a:solidFill>
                <a:schemeClr val="dk1"/>
              </a:solidFill>
              <a:latin typeface="Vidaloka" panose="020B0604020202020204" charset="0"/>
            </a:endParaRPr>
          </a:p>
          <a:p>
            <a:pPr marL="0" lvl="0" indent="0">
              <a:buSzPts val="1100"/>
              <a:buNone/>
            </a:pPr>
            <a:r>
              <a:rPr lang="en-US" sz="1400" dirty="0">
                <a:solidFill>
                  <a:schemeClr val="dk1"/>
                </a:solidFill>
                <a:latin typeface="Vidaloka" panose="020B0604020202020204" charset="0"/>
              </a:rPr>
              <a:t>-  How is revenue performing over time?</a:t>
            </a:r>
          </a:p>
          <a:p>
            <a:pPr marL="0" lvl="0" indent="0">
              <a:buSzPts val="1100"/>
              <a:buNone/>
            </a:pPr>
            <a:r>
              <a:rPr lang="en-US" sz="1400" dirty="0">
                <a:solidFill>
                  <a:schemeClr val="dk1"/>
                </a:solidFill>
                <a:latin typeface="Vidaloka" panose="020B0604020202020204" charset="0"/>
              </a:rPr>
              <a:t>-  Which products and sellers drive the most value?</a:t>
            </a:r>
          </a:p>
          <a:p>
            <a:pPr marL="0" lvl="0" indent="0">
              <a:buSzPts val="1100"/>
              <a:buNone/>
            </a:pPr>
            <a:r>
              <a:rPr lang="en-US" sz="1400" dirty="0">
                <a:solidFill>
                  <a:schemeClr val="dk1"/>
                </a:solidFill>
                <a:latin typeface="Vidaloka" panose="020B0604020202020204" charset="0"/>
              </a:rPr>
              <a:t>-  How reliable is the delivery experience for customers?</a:t>
            </a:r>
          </a:p>
          <a:p>
            <a:pPr marL="0" lvl="0" indent="0">
              <a:buSzPts val="1100"/>
              <a:buNone/>
            </a:pPr>
            <a:r>
              <a:rPr lang="en-US" sz="1400" dirty="0">
                <a:solidFill>
                  <a:schemeClr val="dk1"/>
                </a:solidFill>
                <a:latin typeface="Vidaloka" panose="020B0604020202020204" charset="0"/>
              </a:rPr>
              <a:t>-  Where are the biggest opportunities for improvement?</a:t>
            </a:r>
            <a:endParaRPr sz="1400" dirty="0">
              <a:latin typeface="Vidaloka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&amp; Approach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8B4932-B92C-A45C-82CF-4D67E49585F9}"/>
              </a:ext>
            </a:extLst>
          </p:cNvPr>
          <p:cNvSpPr txBox="1"/>
          <p:nvPr/>
        </p:nvSpPr>
        <p:spPr>
          <a:xfrm>
            <a:off x="713225" y="1192694"/>
            <a:ext cx="4958705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Vidaloka" panose="020B0604020202020204" charset="0"/>
              </a:rPr>
              <a:t>Dataset:  </a:t>
            </a:r>
            <a:r>
              <a:rPr lang="en-US" dirty="0" err="1">
                <a:latin typeface="Vidaloka" panose="020B0604020202020204" charset="0"/>
              </a:rPr>
              <a:t>Olist</a:t>
            </a:r>
            <a:r>
              <a:rPr lang="en-US" dirty="0">
                <a:latin typeface="Vidaloka" panose="020B0604020202020204" charset="0"/>
              </a:rPr>
              <a:t> Brazilian E-commerce Public Dataset</a:t>
            </a:r>
          </a:p>
          <a:p>
            <a:r>
              <a:rPr lang="en-US" b="1" dirty="0">
                <a:latin typeface="Vidaloka" panose="020B0604020202020204" charset="0"/>
              </a:rPr>
              <a:t>Source:   </a:t>
            </a:r>
            <a:r>
              <a:rPr lang="en-US" dirty="0">
                <a:latin typeface="Vidaloka" panose="020B0604020202020204" charset="0"/>
              </a:rPr>
              <a:t>Kaggle</a:t>
            </a:r>
          </a:p>
          <a:p>
            <a:r>
              <a:rPr lang="en-US" b="1" dirty="0">
                <a:latin typeface="Vidaloka" panose="020B0604020202020204" charset="0"/>
              </a:rPr>
              <a:t>Scope:    </a:t>
            </a:r>
            <a:r>
              <a:rPr lang="en-US" dirty="0">
                <a:latin typeface="Vidaloka" panose="020B0604020202020204" charset="0"/>
              </a:rPr>
              <a:t>~193,00 0 orders | 9 relational tables | 2016–2018</a:t>
            </a:r>
            <a:endParaRPr lang="ar-SA" dirty="0">
              <a:latin typeface="Vidaloka" panose="020B0604020202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093434-4C75-A1D7-2EF3-D560D40F98CF}"/>
              </a:ext>
            </a:extLst>
          </p:cNvPr>
          <p:cNvSpPr txBox="1"/>
          <p:nvPr/>
        </p:nvSpPr>
        <p:spPr>
          <a:xfrm>
            <a:off x="713225" y="2125269"/>
            <a:ext cx="564781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Vidaloka" panose="020B0604020202020204" charset="0"/>
              </a:rPr>
              <a:t>Tools Used:</a:t>
            </a:r>
          </a:p>
          <a:p>
            <a:r>
              <a:rPr lang="en-US" dirty="0">
                <a:latin typeface="Vidaloka" panose="020B0604020202020204" charset="0"/>
              </a:rPr>
              <a:t>-  PostgreSQL:  data extraction, transformation, aggregation</a:t>
            </a:r>
          </a:p>
          <a:p>
            <a:r>
              <a:rPr lang="en-US" dirty="0">
                <a:latin typeface="Vidaloka" panose="020B0604020202020204" charset="0"/>
              </a:rPr>
              <a:t>-  Power BI :  data modeling, visualization, dashboard</a:t>
            </a:r>
          </a:p>
          <a:p>
            <a:r>
              <a:rPr lang="en-US" dirty="0">
                <a:latin typeface="Vidaloka" panose="020B0604020202020204" charset="0"/>
              </a:rPr>
              <a:t>-  DAX :  calculated measures (KPIs, % calculations)</a:t>
            </a:r>
            <a:endParaRPr lang="ar-SA" dirty="0">
              <a:latin typeface="Vidaloka" panose="020B060402020202020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73DEE9-D116-2C61-88F6-54A99359339B}"/>
              </a:ext>
            </a:extLst>
          </p:cNvPr>
          <p:cNvSpPr txBox="1"/>
          <p:nvPr/>
        </p:nvSpPr>
        <p:spPr>
          <a:xfrm>
            <a:off x="713225" y="3273287"/>
            <a:ext cx="7838661" cy="11695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Vidaloka" panose="020B0604020202020204" charset="0"/>
              </a:rPr>
              <a:t>Workflow:</a:t>
            </a:r>
          </a:p>
          <a:p>
            <a:r>
              <a:rPr lang="en-US" dirty="0">
                <a:latin typeface="Vidaloka" panose="020B0604020202020204" charset="0"/>
              </a:rPr>
              <a:t>1.  Explored relational schema and identified key fact/dimension tables</a:t>
            </a:r>
          </a:p>
          <a:p>
            <a:r>
              <a:rPr lang="en-US" dirty="0">
                <a:latin typeface="Vidaloka" panose="020B0604020202020204" charset="0"/>
              </a:rPr>
              <a:t>2.  Wrote SQL queries (CTEs, aggregations, CASE logic) to produce clean datasets</a:t>
            </a:r>
          </a:p>
          <a:p>
            <a:r>
              <a:rPr lang="en-US" dirty="0">
                <a:latin typeface="Vidaloka" panose="020B0604020202020204" charset="0"/>
              </a:rPr>
              <a:t>3.  Imported into Power BI and built calculated measures with DAX</a:t>
            </a:r>
          </a:p>
          <a:p>
            <a:r>
              <a:rPr lang="en-US" dirty="0">
                <a:latin typeface="Vidaloka" panose="020B0604020202020204" charset="0"/>
              </a:rPr>
              <a:t>4.  Designed an interactive dashboard around revenue, delivery, and seller performance</a:t>
            </a:r>
            <a:endParaRPr lang="ar-SA" dirty="0">
              <a:latin typeface="Vidaloka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/>
          <p:cNvSpPr txBox="1">
            <a:spLocks noGrp="1"/>
          </p:cNvSpPr>
          <p:nvPr>
            <p:ph type="subTitle" idx="1"/>
          </p:nvPr>
        </p:nvSpPr>
        <p:spPr>
          <a:xfrm>
            <a:off x="0" y="1199930"/>
            <a:ext cx="68867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Vidaloka" panose="020B0604020202020204" charset="0"/>
              </a:rPr>
              <a:t>Revenue scaled rapidly through 2017, stabilizing at ~R$ 2M/month in 2018</a:t>
            </a:r>
            <a:endParaRPr dirty="0">
              <a:latin typeface="Vidaloka" panose="020B0604020202020204" charset="0"/>
            </a:endParaRPr>
          </a:p>
        </p:txBody>
      </p:sp>
      <p:sp>
        <p:nvSpPr>
          <p:cNvPr id="535" name="Google Shape;535;p63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Vidaloka" panose="020B0604020202020204" charset="0"/>
              </a:rPr>
              <a:t>Revenue Performance</a:t>
            </a:r>
            <a:endParaRPr dirty="0">
              <a:latin typeface="Vidaloka" panose="020B060402020202020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262DEEC-666A-D6DA-E351-5BF8703CE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0" y="2436173"/>
            <a:ext cx="4849875" cy="186939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E3F4916-BE96-38E9-EC5B-44C7FDB2C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706" y="1630242"/>
            <a:ext cx="1560603" cy="62766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90ECE99-01EA-9E74-1AFC-62F83434F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40" y="1630242"/>
            <a:ext cx="1560603" cy="62766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CC417CF-A7DB-6D8C-3390-2002395F708F}"/>
              </a:ext>
            </a:extLst>
          </p:cNvPr>
          <p:cNvSpPr txBox="1"/>
          <p:nvPr/>
        </p:nvSpPr>
        <p:spPr>
          <a:xfrm>
            <a:off x="6042992" y="1944076"/>
            <a:ext cx="2842591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Vidaloka" panose="020B0604020202020204" charset="0"/>
              </a:rPr>
              <a:t>Key Takeaway:</a:t>
            </a:r>
          </a:p>
          <a:p>
            <a:r>
              <a:rPr lang="en-US" dirty="0">
                <a:latin typeface="Vidaloka" panose="020B0604020202020204" charset="0"/>
              </a:rPr>
              <a:t>The platform scaled aggressively in 2017, growing revenue </a:t>
            </a:r>
          </a:p>
          <a:p>
            <a:r>
              <a:rPr lang="en-US" dirty="0">
                <a:latin typeface="Vidaloka" panose="020B0604020202020204" charset="0"/>
              </a:rPr>
              <a:t>from R$ 280K to R$ 2.4M/month. By 2018, growth stabilized, </a:t>
            </a:r>
          </a:p>
          <a:p>
            <a:r>
              <a:rPr lang="en-US" dirty="0">
                <a:latin typeface="Vidaloka" panose="020B0604020202020204" charset="0"/>
              </a:rPr>
              <a:t>suggesting market maturation and the need for new strategies </a:t>
            </a:r>
          </a:p>
          <a:p>
            <a:r>
              <a:rPr lang="en-US" dirty="0">
                <a:latin typeface="Vidaloka" panose="020B0604020202020204" charset="0"/>
              </a:rPr>
              <a:t>to drive the next phase of growth.</a:t>
            </a:r>
            <a:endParaRPr lang="ar-SA" dirty="0">
              <a:latin typeface="Vidaloka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>
          <a:extLst>
            <a:ext uri="{FF2B5EF4-FFF2-40B4-BE49-F238E27FC236}">
              <a16:creationId xmlns:a16="http://schemas.microsoft.com/office/drawing/2014/main" id="{4AC15C7A-15A0-84DC-DE4A-20CB13A4A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>
            <a:extLst>
              <a:ext uri="{FF2B5EF4-FFF2-40B4-BE49-F238E27FC236}">
                <a16:creationId xmlns:a16="http://schemas.microsoft.com/office/drawing/2014/main" id="{D3F983F5-4107-CD35-C5D1-3AC351D51F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" y="1199930"/>
            <a:ext cx="83024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Vidaloka" panose="020B0604020202020204" charset="0"/>
              </a:rPr>
              <a:t>Revenue is concentrated in a few categories and heavily driven by São Paulo-based sellers</a:t>
            </a:r>
            <a:endParaRPr dirty="0">
              <a:latin typeface="Vidaloka" panose="020B0604020202020204" charset="0"/>
            </a:endParaRPr>
          </a:p>
        </p:txBody>
      </p:sp>
      <p:sp>
        <p:nvSpPr>
          <p:cNvPr id="535" name="Google Shape;535;p63">
            <a:extLst>
              <a:ext uri="{FF2B5EF4-FFF2-40B4-BE49-F238E27FC236}">
                <a16:creationId xmlns:a16="http://schemas.microsoft.com/office/drawing/2014/main" id="{02E8324B-A965-2DD8-1216-6E4548712ACA}"/>
              </a:ext>
            </a:extLst>
          </p:cNvPr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Product &amp; Seller Analysis</a:t>
            </a:r>
            <a:endParaRPr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33F677-CEF1-1379-33EF-8A7D0461F55B}"/>
              </a:ext>
            </a:extLst>
          </p:cNvPr>
          <p:cNvSpPr txBox="1"/>
          <p:nvPr/>
        </p:nvSpPr>
        <p:spPr>
          <a:xfrm>
            <a:off x="5724062" y="1951301"/>
            <a:ext cx="3313043" cy="22467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Vidaloka" panose="020B0604020202020204" charset="0"/>
              </a:rPr>
              <a:t>Key Takeaway:</a:t>
            </a:r>
          </a:p>
          <a:p>
            <a:r>
              <a:rPr lang="en-US" dirty="0">
                <a:latin typeface="Vidaloka" panose="020B0604020202020204" charset="0"/>
              </a:rPr>
              <a:t>The top 3 product categories (Health &amp; Beauty, Watches &amp; Gifts, </a:t>
            </a:r>
          </a:p>
          <a:p>
            <a:r>
              <a:rPr lang="en-US" dirty="0">
                <a:latin typeface="Vidaloka" panose="020B0604020202020204" charset="0"/>
              </a:rPr>
              <a:t>and Bed &amp; Bath) generate nearly 30% of total revenue. Geographically, </a:t>
            </a:r>
          </a:p>
          <a:p>
            <a:r>
              <a:rPr lang="en-US" dirty="0">
                <a:latin typeface="Vidaloka" panose="020B0604020202020204" charset="0"/>
              </a:rPr>
              <a:t>São Paulo dominates seller activity with R$ 2.7M, nearly 4x the next </a:t>
            </a:r>
          </a:p>
          <a:p>
            <a:r>
              <a:rPr lang="en-US" dirty="0">
                <a:latin typeface="Vidaloka" panose="020B0604020202020204" charset="0"/>
              </a:rPr>
              <a:t>city. This concentration is both a strength (focus) and a risk </a:t>
            </a:r>
          </a:p>
          <a:p>
            <a:r>
              <a:rPr lang="en-US" dirty="0">
                <a:latin typeface="Vidaloka" panose="020B0604020202020204" charset="0"/>
              </a:rPr>
              <a:t>(dependency on a narrow seller base).</a:t>
            </a:r>
            <a:endParaRPr lang="ar-SA" dirty="0">
              <a:latin typeface="Vidaloka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FE4B9F-8A49-93AA-01E5-E6C55C633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79" y="1951300"/>
            <a:ext cx="2680412" cy="1992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A03F11-5379-9DB1-1BC4-153F72623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120" y="1951300"/>
            <a:ext cx="2680412" cy="199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9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>
          <a:extLst>
            <a:ext uri="{FF2B5EF4-FFF2-40B4-BE49-F238E27FC236}">
              <a16:creationId xmlns:a16="http://schemas.microsoft.com/office/drawing/2014/main" id="{A98BA986-5336-A659-5550-60D96426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88CBBB-BF9B-7839-46F2-8C3647118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0" y="1630241"/>
            <a:ext cx="1560603" cy="6276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8FD8E3-AA72-53F8-6FF4-A3EFE6950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239" y="1630240"/>
            <a:ext cx="1560603" cy="627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2D980D-39C5-34AB-1C56-5C4A5C1AF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79" y="2469304"/>
            <a:ext cx="1669774" cy="1551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C9B899-E647-B033-8486-CA70C18E27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8041" y="2469304"/>
            <a:ext cx="3589602" cy="1551784"/>
          </a:xfrm>
          <a:prstGeom prst="rect">
            <a:avLst/>
          </a:prstGeom>
        </p:spPr>
      </p:pic>
      <p:sp>
        <p:nvSpPr>
          <p:cNvPr id="518" name="Google Shape;518;p63">
            <a:extLst>
              <a:ext uri="{FF2B5EF4-FFF2-40B4-BE49-F238E27FC236}">
                <a16:creationId xmlns:a16="http://schemas.microsoft.com/office/drawing/2014/main" id="{CE1B68F7-519F-C95C-8F8C-C32177A8011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3240" y="1017725"/>
            <a:ext cx="717920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Vidaloka" panose="020B0604020202020204" charset="0"/>
              </a:rPr>
              <a:t>92% of orders arrive on time or early, but volatility in 2018 signals a growing risk</a:t>
            </a:r>
            <a:endParaRPr dirty="0">
              <a:latin typeface="Vidaloka" panose="020B0604020202020204" charset="0"/>
            </a:endParaRPr>
          </a:p>
        </p:txBody>
      </p:sp>
      <p:sp>
        <p:nvSpPr>
          <p:cNvPr id="535" name="Google Shape;535;p63">
            <a:extLst>
              <a:ext uri="{FF2B5EF4-FFF2-40B4-BE49-F238E27FC236}">
                <a16:creationId xmlns:a16="http://schemas.microsoft.com/office/drawing/2014/main" id="{C6E1346C-91B5-102B-D40E-33A22E98D049}"/>
              </a:ext>
            </a:extLst>
          </p:cNvPr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Delivery Performance</a:t>
            </a:r>
            <a:endParaRPr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C777E4-2EBE-E4E0-B182-505FADE7617C}"/>
              </a:ext>
            </a:extLst>
          </p:cNvPr>
          <p:cNvSpPr txBox="1"/>
          <p:nvPr/>
        </p:nvSpPr>
        <p:spPr>
          <a:xfrm>
            <a:off x="6042992" y="1944076"/>
            <a:ext cx="3101008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Vidaloka" panose="020B0604020202020204" charset="0"/>
              </a:rPr>
              <a:t>Key Takeaway:</a:t>
            </a:r>
          </a:p>
          <a:p>
            <a:r>
              <a:rPr lang="en-US" dirty="0">
                <a:latin typeface="Vidaloka" panose="020B0604020202020204" charset="0"/>
              </a:rPr>
              <a:t>Overall delivery performance is strong (91.89% early or on-time) </a:t>
            </a:r>
          </a:p>
          <a:p>
            <a:r>
              <a:rPr lang="en-US" dirty="0">
                <a:latin typeface="Vidaloka" panose="020B0604020202020204" charset="0"/>
              </a:rPr>
              <a:t>with an average delivery time of 12.56 days. However, late deliveries </a:t>
            </a:r>
          </a:p>
          <a:p>
            <a:r>
              <a:rPr lang="en-US" dirty="0">
                <a:latin typeface="Vidaloka" panose="020B0604020202020204" charset="0"/>
              </a:rPr>
              <a:t>spiked sharply in early 2018, peaking above 15%. This points to </a:t>
            </a:r>
          </a:p>
          <a:p>
            <a:r>
              <a:rPr lang="en-US" dirty="0">
                <a:latin typeface="Vidaloka" panose="020B0604020202020204" charset="0"/>
              </a:rPr>
              <a:t>operational strain during high-demand periods and a need for </a:t>
            </a:r>
          </a:p>
          <a:p>
            <a:r>
              <a:rPr lang="en-US" dirty="0">
                <a:latin typeface="Vidaloka" panose="020B0604020202020204" charset="0"/>
              </a:rPr>
              <a:t>better capacity planning during peak months.</a:t>
            </a:r>
            <a:endParaRPr lang="ar-SA" dirty="0">
              <a:latin typeface="Vidalok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44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A175A9F0-ABE0-C61C-3860-5B6C5447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>
            <a:extLst>
              <a:ext uri="{FF2B5EF4-FFF2-40B4-BE49-F238E27FC236}">
                <a16:creationId xmlns:a16="http://schemas.microsoft.com/office/drawing/2014/main" id="{5C40DA92-1E0A-739F-2344-90BD2A9318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029" y="297453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Recommendations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1B038A-1F8A-0391-A7D4-F4B503C848A7}"/>
              </a:ext>
            </a:extLst>
          </p:cNvPr>
          <p:cNvSpPr txBox="1"/>
          <p:nvPr/>
        </p:nvSpPr>
        <p:spPr>
          <a:xfrm>
            <a:off x="723029" y="808597"/>
            <a:ext cx="495870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Vidaloka" panose="020B0604020202020204" charset="0"/>
              </a:rPr>
              <a:t>Based on the analysis, three strategic priorities emerge:</a:t>
            </a:r>
            <a:endParaRPr lang="ar-SA" dirty="0">
              <a:latin typeface="Vidaloka" panose="020B0604020202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2FF128-7588-7E8A-D6BC-EC3C9DEF7044}"/>
              </a:ext>
            </a:extLst>
          </p:cNvPr>
          <p:cNvSpPr txBox="1"/>
          <p:nvPr/>
        </p:nvSpPr>
        <p:spPr>
          <a:xfrm>
            <a:off x="720045" y="1336818"/>
            <a:ext cx="842395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>
                <a:latin typeface="Vidaloka" panose="020B0604020202020204" charset="0"/>
              </a:rPr>
              <a:t>Late delivery rates spiked above 15% in early 2018, suggesting logistics strain during high-volume periods. </a:t>
            </a:r>
          </a:p>
          <a:p>
            <a:r>
              <a:rPr lang="en-US" sz="1200" dirty="0">
                <a:latin typeface="Vidaloka" panose="020B0604020202020204" charset="0"/>
              </a:rPr>
              <a:t>Action: Invest in carrier partnerships and regional fulfillment centers ahead of Q4 and seasonal peaks.</a:t>
            </a:r>
          </a:p>
          <a:p>
            <a:r>
              <a:rPr lang="en-US" sz="1200" dirty="0">
                <a:latin typeface="Vidaloka" panose="020B0604020202020204" charset="0"/>
              </a:rPr>
              <a:t>Impact: Reduce late delivery rate toward the 5% benchmark and protect customer retention.</a:t>
            </a:r>
            <a:endParaRPr lang="ar-SA" sz="1200" dirty="0">
              <a:latin typeface="Vidaloka" panose="020B060402020202020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9458E8-F7B5-6C65-D7A6-B630E37D9D92}"/>
              </a:ext>
            </a:extLst>
          </p:cNvPr>
          <p:cNvSpPr txBox="1"/>
          <p:nvPr/>
        </p:nvSpPr>
        <p:spPr>
          <a:xfrm>
            <a:off x="720045" y="2372486"/>
            <a:ext cx="842395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>
                <a:latin typeface="Vidaloka" panose="020B0604020202020204" charset="0"/>
              </a:rPr>
              <a:t>Revenue is heavily concentrated in a few categories and in São Paulo-based sellers, creating dependency risk. </a:t>
            </a:r>
          </a:p>
          <a:p>
            <a:r>
              <a:rPr lang="en-US" sz="1200" dirty="0">
                <a:latin typeface="Vidaloka" panose="020B0604020202020204" charset="0"/>
              </a:rPr>
              <a:t>Action: Launch targeted seller onboarding campaigns in underrepresented cities and mid-tier categories.</a:t>
            </a:r>
          </a:p>
          <a:p>
            <a:r>
              <a:rPr lang="en-US" sz="1200" dirty="0">
                <a:latin typeface="Vidaloka" panose="020B0604020202020204" charset="0"/>
              </a:rPr>
              <a:t>Impact: Stronger resilience against regional or category-level shocks.</a:t>
            </a:r>
            <a:endParaRPr lang="ar-SA" sz="1200" dirty="0">
              <a:latin typeface="Vidaloka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63BE0E-F19D-77B6-07DD-EFE4C34A224B}"/>
              </a:ext>
            </a:extLst>
          </p:cNvPr>
          <p:cNvSpPr txBox="1"/>
          <p:nvPr/>
        </p:nvSpPr>
        <p:spPr>
          <a:xfrm>
            <a:off x="720044" y="3535474"/>
            <a:ext cx="842395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>
                <a:latin typeface="Vidaloka" panose="020B0604020202020204" charset="0"/>
              </a:rPr>
              <a:t>With 91.89% of orders arriving early or on-time, delivery is a genuine competitive strength that's currently undersold. </a:t>
            </a:r>
          </a:p>
          <a:p>
            <a:r>
              <a:rPr lang="en-US" sz="1200" dirty="0">
                <a:latin typeface="Vidaloka" panose="020B0604020202020204" charset="0"/>
              </a:rPr>
              <a:t>Action: Highlight delivery reliability in marketing, product pages, and seller scorecards.</a:t>
            </a:r>
          </a:p>
          <a:p>
            <a:r>
              <a:rPr lang="en-US" sz="1200" dirty="0">
                <a:latin typeface="Vidaloka" panose="020B0604020202020204" charset="0"/>
              </a:rPr>
              <a:t>Impact: Differentiation vs. competitors and stronger buyer trust.</a:t>
            </a:r>
            <a:endParaRPr lang="ar-SA" sz="1200" dirty="0">
              <a:latin typeface="Vidaloka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4F43A-55FC-A5C7-F481-71D8069052A1}"/>
              </a:ext>
            </a:extLst>
          </p:cNvPr>
          <p:cNvSpPr txBox="1"/>
          <p:nvPr/>
        </p:nvSpPr>
        <p:spPr>
          <a:xfrm>
            <a:off x="720044" y="3227697"/>
            <a:ext cx="552615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Vidaloka" panose="020B0604020202020204" charset="0"/>
              </a:rPr>
              <a:t>3. Leverage Delivery Strength as Marketing Advantage</a:t>
            </a:r>
            <a:endParaRPr lang="ar-SA" dirty="0">
              <a:latin typeface="Vidaloka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9602F-A1B0-83D7-5974-457C937CB8DE}"/>
              </a:ext>
            </a:extLst>
          </p:cNvPr>
          <p:cNvSpPr txBox="1"/>
          <p:nvPr/>
        </p:nvSpPr>
        <p:spPr>
          <a:xfrm>
            <a:off x="720044" y="2064709"/>
            <a:ext cx="344556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Vidaloka" panose="020B0604020202020204" charset="0"/>
              </a:rPr>
              <a:t>2. Diversify the Seller and Category Base</a:t>
            </a:r>
            <a:endParaRPr lang="ar-SA" dirty="0">
              <a:latin typeface="Vidalok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2EB9E-8DEF-C8F7-CE2B-6C3E1980C08E}"/>
              </a:ext>
            </a:extLst>
          </p:cNvPr>
          <p:cNvSpPr txBox="1"/>
          <p:nvPr/>
        </p:nvSpPr>
        <p:spPr>
          <a:xfrm>
            <a:off x="720045" y="1094421"/>
            <a:ext cx="3816626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Vidaloka" panose="020B0604020202020204" charset="0"/>
              </a:rPr>
              <a:t>1. Strengthen Peak-Season Delivery Capacity</a:t>
            </a:r>
            <a:endParaRPr lang="ar-SA" dirty="0">
              <a:latin typeface="Vidalok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462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91EBF469-D6CB-BBD9-B41A-1CC31C759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>
            <a:extLst>
              <a:ext uri="{FF2B5EF4-FFF2-40B4-BE49-F238E27FC236}">
                <a16:creationId xmlns:a16="http://schemas.microsoft.com/office/drawing/2014/main" id="{78EE0091-224B-BB97-30B6-06B01115A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531" y="390218"/>
            <a:ext cx="5050539" cy="782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8800" dirty="0"/>
              <a:t>Thanks</a:t>
            </a:r>
            <a:endParaRPr sz="8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5C299-A6C5-9DF0-6882-C40CA6B0E8E6}"/>
              </a:ext>
            </a:extLst>
          </p:cNvPr>
          <p:cNvSpPr txBox="1"/>
          <p:nvPr/>
        </p:nvSpPr>
        <p:spPr>
          <a:xfrm>
            <a:off x="2614385" y="1986974"/>
            <a:ext cx="2955235" cy="11695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algn="ctr"/>
            <a:r>
              <a:rPr lang="en" dirty="0">
                <a:latin typeface="Vidaloka" panose="020B0604020202020204" charset="0"/>
              </a:rPr>
              <a:t>Do you have any questions?</a:t>
            </a:r>
          </a:p>
          <a:p>
            <a:pPr lvl="0" algn="ctr"/>
            <a:r>
              <a:rPr lang="en" dirty="0">
                <a:latin typeface="Vidaloka" panose="020B0604020202020204" charset="0"/>
                <a:hlinkClick r:id="rId3"/>
              </a:rPr>
              <a:t>Email</a:t>
            </a:r>
            <a:endParaRPr lang="en" dirty="0">
              <a:latin typeface="Vidaloka" panose="020B0604020202020204" charset="0"/>
            </a:endParaRPr>
          </a:p>
          <a:p>
            <a:pPr lvl="0" algn="ctr"/>
            <a:r>
              <a:rPr lang="en" dirty="0">
                <a:latin typeface="Vidaloka" panose="020B0604020202020204" charset="0"/>
                <a:hlinkClick r:id="rId4"/>
              </a:rPr>
              <a:t>LinkedIn</a:t>
            </a:r>
            <a:endParaRPr lang="en" dirty="0">
              <a:latin typeface="Vidaloka" panose="020B0604020202020204" charset="0"/>
            </a:endParaRPr>
          </a:p>
          <a:p>
            <a:pPr lvl="0" algn="ctr"/>
            <a:r>
              <a:rPr lang="en" dirty="0">
                <a:latin typeface="Vidaloka" panose="020B0604020202020204" charset="0"/>
                <a:hlinkClick r:id="rId5"/>
              </a:rPr>
              <a:t>GitHub</a:t>
            </a:r>
            <a:endParaRPr lang="en" dirty="0">
              <a:latin typeface="Vidaloka" panose="020B0604020202020204" charset="0"/>
            </a:endParaRPr>
          </a:p>
          <a:p>
            <a:endParaRPr lang="ar-SA" dirty="0">
              <a:latin typeface="Vidalok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524559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616</Words>
  <Application>Microsoft Office PowerPoint</Application>
  <PresentationFormat>On-screen Show (16:9)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Vidaloka</vt:lpstr>
      <vt:lpstr>Montserrat</vt:lpstr>
      <vt:lpstr>Arial</vt:lpstr>
      <vt:lpstr>Lato</vt:lpstr>
      <vt:lpstr>Minimalist Business Slides XL by Slidesgo</vt:lpstr>
      <vt:lpstr>E-commerce Performance Analysis</vt:lpstr>
      <vt:lpstr>The Business Context</vt:lpstr>
      <vt:lpstr>Data &amp; Approach</vt:lpstr>
      <vt:lpstr>Revenue Performance</vt:lpstr>
      <vt:lpstr>Product &amp; Seller Analysis</vt:lpstr>
      <vt:lpstr>Delivery Performance</vt:lpstr>
      <vt:lpstr>Recommendations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ابراهيم محمد بن باقر الهاشم</cp:lastModifiedBy>
  <cp:revision>1</cp:revision>
  <dcterms:modified xsi:type="dcterms:W3CDTF">2026-04-21T22:28:42Z</dcterms:modified>
</cp:coreProperties>
</file>